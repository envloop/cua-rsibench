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9D59B7-B7CB-4166-9C2D-9DB5F8FE20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62A004-CC08-40AC-A4B0-BAE9E386C7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61D56A-24A8-4CC6-8225-E03D884CE1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E445FB-9B7C-4045-B3F4-4099FBFAA4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E89194-B522-4BCF-8771-16B4E11E17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7DC38B-E9FF-47E0-84D8-5661A971AE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D40023-D6C9-4AF6-9169-D3E5567AD0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AD127D-D60F-4F77-8AB3-6A68A1999D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8C7F64-CEED-4B2E-8F13-889C007B7D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773B8B-615A-466A-B87B-9002513109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979C0F-86DB-415B-82C8-7443F67184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8D0CB3-D601-4C03-A8F9-6FF44340E3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E58313-D846-4CCC-9ECB-753C1C4A6F0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822960" y="731520"/>
            <a:ext cx="10606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4283b"/>
                </a:solidFill>
                <a:latin typeface="Arial"/>
                <a:ea typeface="DejaVu Sans"/>
              </a:rPr>
              <a:t>Mexico | Macro review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822960" y="1920240"/>
            <a:ext cx="10240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Decision support, based on authentic WDI observations. Check units and years before updating signals.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822960" y="6126480"/>
            <a:ext cx="10240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1"/>
          <p:cNvSpPr/>
          <p:nvPr/>
        </p:nvSpPr>
        <p:spPr>
          <a:xfrm>
            <a:off x="640080" y="457200"/>
            <a:ext cx="10789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  <a:ea typeface="DejaVu Sans"/>
              </a:rPr>
              <a:t>Evidence table | 2022–2024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68580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Year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294444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GDP, USD bn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520308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GDP/capita, USD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" name="TextBox 5"/>
          <p:cNvSpPr/>
          <p:nvPr/>
        </p:nvSpPr>
        <p:spPr>
          <a:xfrm>
            <a:off x="746136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Inflation,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TextBox 6"/>
          <p:cNvSpPr/>
          <p:nvPr/>
        </p:nvSpPr>
        <p:spPr>
          <a:xfrm>
            <a:off x="972000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Unemployment,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" name="TextBox 7"/>
          <p:cNvSpPr/>
          <p:nvPr/>
        </p:nvSpPr>
        <p:spPr>
          <a:xfrm>
            <a:off x="68580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2022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1" name="TextBox 8"/>
          <p:cNvSpPr/>
          <p:nvPr/>
        </p:nvSpPr>
        <p:spPr>
          <a:xfrm>
            <a:off x="294444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1,466.9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" name="TextBox 9"/>
          <p:cNvSpPr/>
          <p:nvPr/>
        </p:nvSpPr>
        <p:spPr>
          <a:xfrm>
            <a:off x="520308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11,406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746136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7.90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4" name="TextBox 11"/>
          <p:cNvSpPr/>
          <p:nvPr/>
        </p:nvSpPr>
        <p:spPr>
          <a:xfrm>
            <a:off x="972000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3.26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68580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2023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6" name="TextBox 13"/>
          <p:cNvSpPr/>
          <p:nvPr/>
        </p:nvSpPr>
        <p:spPr>
          <a:xfrm>
            <a:off x="294444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1,794.4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520308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13,831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746136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5.53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972000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2.77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0" name="TextBox 17"/>
          <p:cNvSpPr/>
          <p:nvPr/>
        </p:nvSpPr>
        <p:spPr>
          <a:xfrm>
            <a:off x="68580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2024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1" name="TextBox 18"/>
          <p:cNvSpPr/>
          <p:nvPr/>
        </p:nvSpPr>
        <p:spPr>
          <a:xfrm>
            <a:off x="294444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1,830.5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520308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13,988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3" name="TextBox 20"/>
          <p:cNvSpPr/>
          <p:nvPr/>
        </p:nvSpPr>
        <p:spPr>
          <a:xfrm>
            <a:off x="746136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4.72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4" name="TextBox 21"/>
          <p:cNvSpPr/>
          <p:nvPr/>
        </p:nvSpPr>
        <p:spPr>
          <a:xfrm>
            <a:off x="972000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2.68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5" name="TextBox 22"/>
          <p:cNvSpPr/>
          <p:nvPr/>
        </p:nvSpPr>
        <p:spPr>
          <a:xfrm>
            <a:off x="685800" y="6126480"/>
            <a:ext cx="10514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40080" y="457200"/>
            <a:ext cx="10789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  <a:ea typeface="DejaVu Sans"/>
              </a:rPr>
              <a:t>Decision signals | verify before circulation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14400" y="1508760"/>
            <a:ext cx="9874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  <a:ea typeface="DejaVu Sans"/>
              </a:rPr>
              <a:t>2024 nominal GDP growth: 1.01%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914400" y="2743200"/>
            <a:ext cx="9874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  <a:ea typeface="DejaVu Sans"/>
              </a:rPr>
              <a:t>2024 inflation: 4.72%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914400" y="3977640"/>
            <a:ext cx="9874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  <a:ea typeface="DejaVu Sans"/>
              </a:rPr>
              <a:t>2024 unemployment: 2.68%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685800" y="6126480"/>
            <a:ext cx="10514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457200"/>
            <a:ext cx="10789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  <a:ea typeface="DejaVu Sans"/>
              </a:rPr>
              <a:t>Source, definitions, and caveat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1371600"/>
            <a:ext cx="102405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  <a:ea typeface="DejaVu Sans"/>
              </a:rPr>
              <a:t>GDP growth is nominal (current USD). Inflation and unemployment are WDI annual rates. These derived comparisons are not forecasts or World Bank judgments.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5989320"/>
            <a:ext cx="10514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2026-09-25T06:23:05Z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