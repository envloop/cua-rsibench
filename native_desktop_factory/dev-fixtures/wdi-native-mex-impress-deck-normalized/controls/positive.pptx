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657B53-A716-4877-959F-C84B33C23C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5A6A87-3323-438C-A4BE-4750ABA8D6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E41F4F-F73A-45E0-8F24-7969C3885E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C31812-FB01-40B9-B163-989FB3CCA6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A918C4-22BC-41BA-97FE-B22C42CCC1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DF18BE-D8E4-475D-BA43-9896467176B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184AE9-94CD-4268-96C7-F2DF8938BF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9EEF62-4105-423B-9369-4A13A12479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B93C03-3589-47DC-86AD-EA88D6430E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5130E5-8E2E-4CD4-82CD-FF009C0F83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6E99E8-6D34-4DF6-B9CD-6EE012BFD9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373ED2-4E7C-46AF-88E1-0897233473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58BFC2-AD69-4647-8ABF-ABC57133559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822960" y="731520"/>
            <a:ext cx="10606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4283b"/>
                </a:solidFill>
                <a:latin typeface="Arial"/>
                <a:ea typeface="DejaVu Sans"/>
              </a:rPr>
              <a:t>Mexico | Macro review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822960" y="1920240"/>
            <a:ext cx="102405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  <a:ea typeface="DejaVu Sans"/>
              </a:rPr>
              <a:t>Decision support, based on authentic WDI observations. Check units and years before updating signals.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822960" y="6126480"/>
            <a:ext cx="10240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1"/>
          <p:cNvSpPr/>
          <p:nvPr/>
        </p:nvSpPr>
        <p:spPr>
          <a:xfrm>
            <a:off x="640080" y="457200"/>
            <a:ext cx="10789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  <a:ea typeface="DejaVu Sans"/>
              </a:rPr>
              <a:t>Evidence table | 2022–2024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5" name="TextBox 2"/>
          <p:cNvSpPr/>
          <p:nvPr/>
        </p:nvSpPr>
        <p:spPr>
          <a:xfrm>
            <a:off x="685800" y="1371600"/>
            <a:ext cx="2193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Year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" name="TextBox 3"/>
          <p:cNvSpPr/>
          <p:nvPr/>
        </p:nvSpPr>
        <p:spPr>
          <a:xfrm>
            <a:off x="2944440" y="1371600"/>
            <a:ext cx="2193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GDP, USD bn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5203080" y="1371600"/>
            <a:ext cx="2193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GDP/capita, USD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" name="TextBox 5"/>
          <p:cNvSpPr/>
          <p:nvPr/>
        </p:nvSpPr>
        <p:spPr>
          <a:xfrm>
            <a:off x="7461360" y="1371600"/>
            <a:ext cx="2193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Inflation, 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" name="TextBox 6"/>
          <p:cNvSpPr/>
          <p:nvPr/>
        </p:nvSpPr>
        <p:spPr>
          <a:xfrm>
            <a:off x="9720000" y="1371600"/>
            <a:ext cx="2193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Unemployment, %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" name="TextBox 7"/>
          <p:cNvSpPr/>
          <p:nvPr/>
        </p:nvSpPr>
        <p:spPr>
          <a:xfrm>
            <a:off x="685800" y="205740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2022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1" name="TextBox 8"/>
          <p:cNvSpPr/>
          <p:nvPr/>
        </p:nvSpPr>
        <p:spPr>
          <a:xfrm>
            <a:off x="2944440" y="205740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1,466.9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2" name="TextBox 9"/>
          <p:cNvSpPr/>
          <p:nvPr/>
        </p:nvSpPr>
        <p:spPr>
          <a:xfrm>
            <a:off x="5203080" y="205740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11,406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7461360" y="205740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7.90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4" name="TextBox 11"/>
          <p:cNvSpPr/>
          <p:nvPr/>
        </p:nvSpPr>
        <p:spPr>
          <a:xfrm>
            <a:off x="9720000" y="205740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3.26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5" name="TextBox 12"/>
          <p:cNvSpPr/>
          <p:nvPr/>
        </p:nvSpPr>
        <p:spPr>
          <a:xfrm>
            <a:off x="685800" y="283464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2023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6" name="TextBox 13"/>
          <p:cNvSpPr/>
          <p:nvPr/>
        </p:nvSpPr>
        <p:spPr>
          <a:xfrm>
            <a:off x="2944440" y="283464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1,794.4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5203080" y="283464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13,831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7461360" y="283464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5.53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9" name="TextBox 16"/>
          <p:cNvSpPr/>
          <p:nvPr/>
        </p:nvSpPr>
        <p:spPr>
          <a:xfrm>
            <a:off x="9720000" y="283464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2.77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0" name="TextBox 17"/>
          <p:cNvSpPr/>
          <p:nvPr/>
        </p:nvSpPr>
        <p:spPr>
          <a:xfrm>
            <a:off x="685800" y="361188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2024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1" name="TextBox 18"/>
          <p:cNvSpPr/>
          <p:nvPr/>
        </p:nvSpPr>
        <p:spPr>
          <a:xfrm>
            <a:off x="2944440" y="361188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1,830.5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2" name="TextBox 19"/>
          <p:cNvSpPr/>
          <p:nvPr/>
        </p:nvSpPr>
        <p:spPr>
          <a:xfrm>
            <a:off x="5203080" y="361188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13,988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3" name="TextBox 20"/>
          <p:cNvSpPr/>
          <p:nvPr/>
        </p:nvSpPr>
        <p:spPr>
          <a:xfrm>
            <a:off x="7461360" y="361188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4.72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4" name="TextBox 21"/>
          <p:cNvSpPr/>
          <p:nvPr/>
        </p:nvSpPr>
        <p:spPr>
          <a:xfrm>
            <a:off x="9720000" y="3611880"/>
            <a:ext cx="2193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2.68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5" name="TextBox 22"/>
          <p:cNvSpPr/>
          <p:nvPr/>
        </p:nvSpPr>
        <p:spPr>
          <a:xfrm>
            <a:off x="685800" y="6126480"/>
            <a:ext cx="105148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640080" y="457200"/>
            <a:ext cx="10789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  <a:ea typeface="DejaVu Sans"/>
              </a:rPr>
              <a:t>Decision signals | verify before circulation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914400" y="1508760"/>
            <a:ext cx="9874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  <a:ea typeface="DejaVu Sans"/>
              </a:rPr>
              <a:t>2024 nominal GDP growth: 2.01%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914400" y="2743200"/>
            <a:ext cx="9874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  <a:ea typeface="DejaVu Sans"/>
              </a:rPr>
              <a:t>2024 inflation: 4.72%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914400" y="3977640"/>
            <a:ext cx="98748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b85b1c"/>
                </a:solidFill>
                <a:latin typeface="Arial"/>
                <a:ea typeface="DejaVu Sans"/>
              </a:rPr>
              <a:t>2024 unemployment: 2.68%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685800" y="6126480"/>
            <a:ext cx="105148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640080" y="457200"/>
            <a:ext cx="10789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4283b"/>
                </a:solidFill>
                <a:latin typeface="Arial"/>
                <a:ea typeface="DejaVu Sans"/>
              </a:rPr>
              <a:t>Source, definitions, and caveat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1371600"/>
            <a:ext cx="102405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  <a:ea typeface="DejaVu Sans"/>
              </a:rPr>
              <a:t>GDP growth is nominal (current USD). Inflation and unemployment are WDI annual rates. These derived comparisons are not forecasts or World Bank judgments.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5989320"/>
            <a:ext cx="105148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Source: World Bank, World Development Indicators, API snapshot 2026-09-25, 2019–2024; CC BY 4.0. Derived calculations are EnvLoop's, not World Bank conclusions.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2026-09-25T06:22:21Z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