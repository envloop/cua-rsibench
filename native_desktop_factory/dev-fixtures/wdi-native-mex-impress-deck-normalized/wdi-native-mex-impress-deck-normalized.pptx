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F21C96-CF64-4CC2-9B99-43AFE43DDA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0DE74B-E78C-4A27-B37E-894AE7E0FD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E4C68F-3264-4B45-9351-9E9C047CCD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3F44B2-9B32-42FB-B9C3-6252CCA3BE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02D07-C85A-4105-B6CB-AFCB278FD9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00CF5B-5C97-4488-A0DE-67E40FB33A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BBA743-4B3E-4F56-A5D9-4EF97551B9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7550A6-7C5C-490E-A85D-5AF9112298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9A8A51-90AE-419F-A3F0-EA2D3A57D1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6D150E-0D3A-4C59-B29F-194489AB7B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40F8AE-28A6-46B1-AF3B-1F78DC23B6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AA107F-E439-48A4-ADE3-9E6C88A9C37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EDB320-3E99-4971-AA6D-388C012C7B4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822960" y="731520"/>
            <a:ext cx="106066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4283b"/>
                </a:solidFill>
                <a:latin typeface="Arial"/>
              </a:rPr>
              <a:t>Mexico | Macro review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822960" y="1920240"/>
            <a:ext cx="102409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Decision support, based on authentic WDI observations. Check units and years before updating signals.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822960" y="6126480"/>
            <a:ext cx="10240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1"/>
          <p:cNvSpPr/>
          <p:nvPr/>
        </p:nvSpPr>
        <p:spPr>
          <a:xfrm>
            <a:off x="640080" y="45720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</a:rPr>
              <a:t>Evidence table | 2022–2024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68580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Year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294444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GDP, USD bn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520308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GDP/capita, USD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" name="TextBox 5"/>
          <p:cNvSpPr/>
          <p:nvPr/>
        </p:nvSpPr>
        <p:spPr>
          <a:xfrm>
            <a:off x="746136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Inflation,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" name="TextBox 6"/>
          <p:cNvSpPr/>
          <p:nvPr/>
        </p:nvSpPr>
        <p:spPr>
          <a:xfrm>
            <a:off x="972000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Unemployment,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" name="TextBox 7"/>
          <p:cNvSpPr/>
          <p:nvPr/>
        </p:nvSpPr>
        <p:spPr>
          <a:xfrm>
            <a:off x="68580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2022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1" name="TextBox 8"/>
          <p:cNvSpPr/>
          <p:nvPr/>
        </p:nvSpPr>
        <p:spPr>
          <a:xfrm>
            <a:off x="294444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1,466.9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" name="TextBox 9"/>
          <p:cNvSpPr/>
          <p:nvPr/>
        </p:nvSpPr>
        <p:spPr>
          <a:xfrm>
            <a:off x="520308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11,406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746136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7.90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4" name="TextBox 11"/>
          <p:cNvSpPr/>
          <p:nvPr/>
        </p:nvSpPr>
        <p:spPr>
          <a:xfrm>
            <a:off x="972000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3.26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5" name="TextBox 12"/>
          <p:cNvSpPr/>
          <p:nvPr/>
        </p:nvSpPr>
        <p:spPr>
          <a:xfrm>
            <a:off x="68580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2023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6" name="TextBox 13"/>
          <p:cNvSpPr/>
          <p:nvPr/>
        </p:nvSpPr>
        <p:spPr>
          <a:xfrm>
            <a:off x="294444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1,794.4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520308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13,831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746136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5.53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972000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2.77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0" name="TextBox 17"/>
          <p:cNvSpPr/>
          <p:nvPr/>
        </p:nvSpPr>
        <p:spPr>
          <a:xfrm>
            <a:off x="68580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2024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1" name="TextBox 18"/>
          <p:cNvSpPr/>
          <p:nvPr/>
        </p:nvSpPr>
        <p:spPr>
          <a:xfrm>
            <a:off x="294444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1,830.5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2" name="TextBox 19"/>
          <p:cNvSpPr/>
          <p:nvPr/>
        </p:nvSpPr>
        <p:spPr>
          <a:xfrm>
            <a:off x="520308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13,988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3" name="TextBox 20"/>
          <p:cNvSpPr/>
          <p:nvPr/>
        </p:nvSpPr>
        <p:spPr>
          <a:xfrm>
            <a:off x="746136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4.72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4" name="TextBox 21"/>
          <p:cNvSpPr/>
          <p:nvPr/>
        </p:nvSpPr>
        <p:spPr>
          <a:xfrm>
            <a:off x="972000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2.68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5" name="TextBox 22"/>
          <p:cNvSpPr/>
          <p:nvPr/>
        </p:nvSpPr>
        <p:spPr>
          <a:xfrm>
            <a:off x="685800" y="612648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40080" y="45720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</a:rPr>
              <a:t>Decision signals | verify before circulation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14400" y="150876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</a:rPr>
              <a:t>SIGNAL_1_REVIEW_1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914400" y="274320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</a:rPr>
              <a:t>2024 inflation: 4.72%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914400" y="397764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</a:rPr>
              <a:t>2024 unemployment: 2.68%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685800" y="612648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45720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</a:rPr>
              <a:t>Source, definitions, and caveat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1371600"/>
            <a:ext cx="102409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GDP growth is nominal (current USD). Inflation and unemployment are WDI annual rates. These derived comparisons are not forecasts or World Bank judgments.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598932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