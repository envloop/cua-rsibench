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C6DF83-CEB8-4A52-A618-57FD69ED5F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2551D2-C17F-475F-8182-146D101FC6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409BAD-2FDD-444E-91FA-529D6C50BB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F804F3-06BE-437E-BCAE-7563AA6CBE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605511-1E1C-4DFA-BAF1-2D43F960EF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F38DB-AD1D-43AC-A7CB-3265912BF7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48D03A-0DA8-45A5-ACBC-4539CBE79D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61EAE9-A433-4339-9EC8-1638480ECF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BE8DB8-D514-4ED0-B8F3-1140D998F8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52294-3C32-4D63-A775-423A221D77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09C97-C413-4AC2-998A-F2BB4C80DD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35FC1-6E92-41E7-8501-ECA9474A6D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295570-1DF0-4366-8262-C16D91FA7E2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822960" y="731520"/>
            <a:ext cx="106066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4283b"/>
                </a:solidFill>
                <a:latin typeface="Arial"/>
              </a:rPr>
              <a:t>Mexico | Macro review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822960" y="1920240"/>
            <a:ext cx="102409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Decision support, based on authentic WDI observations. Check units and years before updating signals.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822960" y="6126480"/>
            <a:ext cx="10240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Evidence table | 2022–2024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68580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Year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294444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GDP, USD bn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520308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GDP/capita, USD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" name="TextBox 5"/>
          <p:cNvSpPr/>
          <p:nvPr/>
        </p:nvSpPr>
        <p:spPr>
          <a:xfrm>
            <a:off x="746136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Inflation,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TextBox 6"/>
          <p:cNvSpPr/>
          <p:nvPr/>
        </p:nvSpPr>
        <p:spPr>
          <a:xfrm>
            <a:off x="9720000" y="1371600"/>
            <a:ext cx="2194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Unemployment,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" name="TextBox 7"/>
          <p:cNvSpPr/>
          <p:nvPr/>
        </p:nvSpPr>
        <p:spPr>
          <a:xfrm>
            <a:off x="68580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1" name="TextBox 8"/>
          <p:cNvSpPr/>
          <p:nvPr/>
        </p:nvSpPr>
        <p:spPr>
          <a:xfrm>
            <a:off x="294444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1,466.9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" name="TextBox 9"/>
          <p:cNvSpPr/>
          <p:nvPr/>
        </p:nvSpPr>
        <p:spPr>
          <a:xfrm>
            <a:off x="520308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11,406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746136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7.90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4" name="TextBox 11"/>
          <p:cNvSpPr/>
          <p:nvPr/>
        </p:nvSpPr>
        <p:spPr>
          <a:xfrm>
            <a:off x="9720000" y="205740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3.26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68580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6" name="TextBox 13"/>
          <p:cNvSpPr/>
          <p:nvPr/>
        </p:nvSpPr>
        <p:spPr>
          <a:xfrm>
            <a:off x="294444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1,794.4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520308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13,831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746136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5.53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9720000" y="283464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2.77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0" name="TextBox 17"/>
          <p:cNvSpPr/>
          <p:nvPr/>
        </p:nvSpPr>
        <p:spPr>
          <a:xfrm>
            <a:off x="68580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2024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1" name="TextBox 18"/>
          <p:cNvSpPr/>
          <p:nvPr/>
        </p:nvSpPr>
        <p:spPr>
          <a:xfrm>
            <a:off x="294444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1,830.5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520308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13,988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3" name="TextBox 20"/>
          <p:cNvSpPr/>
          <p:nvPr/>
        </p:nvSpPr>
        <p:spPr>
          <a:xfrm>
            <a:off x="746136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4.72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4" name="TextBox 21"/>
          <p:cNvSpPr/>
          <p:nvPr/>
        </p:nvSpPr>
        <p:spPr>
          <a:xfrm>
            <a:off x="9720000" y="3611880"/>
            <a:ext cx="2194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2.68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5" name="TextBox 22"/>
          <p:cNvSpPr/>
          <p:nvPr/>
        </p:nvSpPr>
        <p:spPr>
          <a:xfrm>
            <a:off x="685800" y="612648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Decision signals | verify before circulation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14400" y="150876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2024 nominal GDP growth: 1.01%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914400" y="274320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2024 inflation: 4.72%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914400" y="397764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</a:rPr>
              <a:t>2024 unemployment: 2.68%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685800" y="612648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45720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</a:rPr>
              <a:t>Source, definitions, and caveat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1371600"/>
            <a:ext cx="102409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GDP growth is nominal (current USD). Inflation and unemployment are WDI annual rates. These derived comparisons are not forecasts or World Bank judgments.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598932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2026-09-25T06:05:40Z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